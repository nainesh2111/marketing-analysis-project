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8DB89-C620-1879-19B2-460F014E99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BF741F-248B-047A-27D1-509C227D79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51D98D-26FF-A483-7953-DB92709537E8}"/>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5" name="Footer Placeholder 4">
            <a:extLst>
              <a:ext uri="{FF2B5EF4-FFF2-40B4-BE49-F238E27FC236}">
                <a16:creationId xmlns:a16="http://schemas.microsoft.com/office/drawing/2014/main" id="{6C4BA3F8-63CD-BD26-7787-7F803CF58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DFFD37-5D2E-90ED-56E9-8A50D0789373}"/>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2983166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5009-172B-FB9C-4E0B-A26B048FAF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A45ACB-93A5-331A-9E18-2BCFC9045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1689EC-0A99-CF22-D900-07CB07CA93D0}"/>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5" name="Footer Placeholder 4">
            <a:extLst>
              <a:ext uri="{FF2B5EF4-FFF2-40B4-BE49-F238E27FC236}">
                <a16:creationId xmlns:a16="http://schemas.microsoft.com/office/drawing/2014/main" id="{F529A400-A372-5DEE-3169-E97504C95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C32FFB-D04A-A4AA-1A7B-C6D9336CF2B7}"/>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84302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B42F6-C1A4-3A45-1A3D-28671AA734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A45DA5-A4B5-6A14-F181-C7E7CEF473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586782-15C4-619B-3451-15CD97432E20}"/>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5" name="Footer Placeholder 4">
            <a:extLst>
              <a:ext uri="{FF2B5EF4-FFF2-40B4-BE49-F238E27FC236}">
                <a16:creationId xmlns:a16="http://schemas.microsoft.com/office/drawing/2014/main" id="{B969B36A-00EC-0A72-3B90-78333B23F5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D6F7FB-0758-0AF3-7246-F0F7FF54A2AE}"/>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3186771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98C53-EB0B-B972-DF7C-972DA8D493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605DE7-8364-08EF-4250-1A1EB023B0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91543E-9B25-86A8-4AF9-62CD9F7B86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19F3E2-C445-7A3C-A89A-E70F98D255C8}"/>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6" name="Footer Placeholder 5">
            <a:extLst>
              <a:ext uri="{FF2B5EF4-FFF2-40B4-BE49-F238E27FC236}">
                <a16:creationId xmlns:a16="http://schemas.microsoft.com/office/drawing/2014/main" id="{F234133F-8817-BCA4-D0B2-284F266A7A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3DCDDF-2E18-7C47-E1AB-28BB5B622627}"/>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786988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2039-CCE3-C633-85B0-E06BC7E2C49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178997-637C-CAD9-6C31-1D64AC18D8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7A3C27-F1A6-AA4F-79BF-EFE55A38A2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2D8ABE-B724-3DE7-5982-31705FAA43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736B85-2638-C507-F524-07CA88C402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29CE1FA-41A5-CB98-629D-B3634F7A2916}"/>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8" name="Footer Placeholder 7">
            <a:extLst>
              <a:ext uri="{FF2B5EF4-FFF2-40B4-BE49-F238E27FC236}">
                <a16:creationId xmlns:a16="http://schemas.microsoft.com/office/drawing/2014/main" id="{0928D1A4-3C6B-4D86-F3B3-465B9B7E5A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85CD27-2A22-976B-3144-72B8F3A64BD4}"/>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4104486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83597-C24A-32C5-A8CB-45D345B440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B59B454-595B-AADB-001D-BC8BA0CCA7BE}"/>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4" name="Footer Placeholder 3">
            <a:extLst>
              <a:ext uri="{FF2B5EF4-FFF2-40B4-BE49-F238E27FC236}">
                <a16:creationId xmlns:a16="http://schemas.microsoft.com/office/drawing/2014/main" id="{0F7EB85D-BEC2-D156-D307-2BDFA24F5D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AEB06A-A150-4572-D09E-F04CB2292924}"/>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248975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80ABBF-C92B-57E3-F4B0-4D9B6FAB5B95}"/>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3" name="Footer Placeholder 2">
            <a:extLst>
              <a:ext uri="{FF2B5EF4-FFF2-40B4-BE49-F238E27FC236}">
                <a16:creationId xmlns:a16="http://schemas.microsoft.com/office/drawing/2014/main" id="{5D7424F1-08C3-9529-192F-01AEBBEDAB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106DA1-B1CC-5EDD-6154-14ABC64E15EE}"/>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899071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DF9C-1082-1DFA-8FCA-3F6EE82EB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13F127-F10F-9416-8E84-ADEF44A0CF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CDAF0C-80DF-90E0-FEAC-ECC41A4BBC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B6C2-8A19-944D-D971-26A211442508}"/>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6" name="Footer Placeholder 5">
            <a:extLst>
              <a:ext uri="{FF2B5EF4-FFF2-40B4-BE49-F238E27FC236}">
                <a16:creationId xmlns:a16="http://schemas.microsoft.com/office/drawing/2014/main" id="{3788786A-B8A0-806E-2936-B54B81B471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7A69FE-917B-A47C-DE17-8EB9912673A2}"/>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116913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A6E9-EDFA-F6F8-8ECD-291A849F7B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6F743E-559B-DD64-8DDE-561DAF4B49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711229-BB0D-4974-9ED7-593E8AF2E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5F8EE5-6D8C-1500-1563-2229159B9DB9}"/>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6" name="Footer Placeholder 5">
            <a:extLst>
              <a:ext uri="{FF2B5EF4-FFF2-40B4-BE49-F238E27FC236}">
                <a16:creationId xmlns:a16="http://schemas.microsoft.com/office/drawing/2014/main" id="{28A05633-469E-0049-AA0F-87E683CCBF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D06E67-5D08-5380-CB35-49599B9DA145}"/>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2124461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16BB-1BDA-8F49-F89E-5E9BAE812D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B05C06-4C96-6D67-0D3E-25122F9A3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D529D4-B594-0E58-CF1F-5EC4DCEAF0A8}"/>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5" name="Footer Placeholder 4">
            <a:extLst>
              <a:ext uri="{FF2B5EF4-FFF2-40B4-BE49-F238E27FC236}">
                <a16:creationId xmlns:a16="http://schemas.microsoft.com/office/drawing/2014/main" id="{97CA7D3C-D67B-B855-0026-1192336EFC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A565E7-311A-0B52-36C6-3D91BF3467B0}"/>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1951969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B3EF97-706D-67C0-2041-ABD0EEF447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56FAE1-FBA9-E833-BA9B-61031E9E49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367013-EE7F-1CD1-B129-E932B5C68661}"/>
              </a:ext>
            </a:extLst>
          </p:cNvPr>
          <p:cNvSpPr>
            <a:spLocks noGrp="1"/>
          </p:cNvSpPr>
          <p:nvPr>
            <p:ph type="dt" sz="half" idx="10"/>
          </p:nvPr>
        </p:nvSpPr>
        <p:spPr/>
        <p:txBody>
          <a:bodyPr/>
          <a:lstStyle/>
          <a:p>
            <a:fld id="{425DBAF9-CDDF-4B68-909D-00100E93C192}" type="datetimeFigureOut">
              <a:rPr lang="en-IN" smtClean="0"/>
              <a:t>05-05-2026</a:t>
            </a:fld>
            <a:endParaRPr lang="en-IN"/>
          </a:p>
        </p:txBody>
      </p:sp>
      <p:sp>
        <p:nvSpPr>
          <p:cNvPr id="5" name="Footer Placeholder 4">
            <a:extLst>
              <a:ext uri="{FF2B5EF4-FFF2-40B4-BE49-F238E27FC236}">
                <a16:creationId xmlns:a16="http://schemas.microsoft.com/office/drawing/2014/main" id="{C1956329-B1B9-8F51-B17E-88E7E95A53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D9BBE3-C8CB-B40B-AF9B-B8B85CEF0557}"/>
              </a:ext>
            </a:extLst>
          </p:cNvPr>
          <p:cNvSpPr>
            <a:spLocks noGrp="1"/>
          </p:cNvSpPr>
          <p:nvPr>
            <p:ph type="sldNum" sz="quarter" idx="12"/>
          </p:nvPr>
        </p:nvSpPr>
        <p:spPr/>
        <p:txBody>
          <a:bodyPr/>
          <a:lstStyle/>
          <a:p>
            <a:fld id="{3B17B478-EA01-4ED5-9C5C-589EA7A5E2AE}" type="slidenum">
              <a:rPr lang="en-IN" smtClean="0"/>
              <a:t>‹#›</a:t>
            </a:fld>
            <a:endParaRPr lang="en-IN"/>
          </a:p>
        </p:txBody>
      </p:sp>
    </p:spTree>
    <p:extLst>
      <p:ext uri="{BB962C8B-B14F-4D97-AF65-F5344CB8AC3E}">
        <p14:creationId xmlns:p14="http://schemas.microsoft.com/office/powerpoint/2010/main" val="1205077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3B251D-6BD4-8F32-F66B-D234661CA1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51AB76-B3E4-C24F-4731-50AB3864AA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6AD5EE-2593-9BD1-D700-37F184173F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5DBAF9-CDDF-4B68-909D-00100E93C192}" type="datetimeFigureOut">
              <a:rPr lang="en-IN" smtClean="0"/>
              <a:t>05-05-2026</a:t>
            </a:fld>
            <a:endParaRPr lang="en-IN"/>
          </a:p>
        </p:txBody>
      </p:sp>
      <p:sp>
        <p:nvSpPr>
          <p:cNvPr id="5" name="Footer Placeholder 4">
            <a:extLst>
              <a:ext uri="{FF2B5EF4-FFF2-40B4-BE49-F238E27FC236}">
                <a16:creationId xmlns:a16="http://schemas.microsoft.com/office/drawing/2014/main" id="{3681B3C7-BE19-79BB-6341-47654F329B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70B92E0-F5D9-E557-72F3-6885CBD399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7B478-EA01-4ED5-9C5C-589EA7A5E2AE}" type="slidenum">
              <a:rPr lang="en-IN" smtClean="0"/>
              <a:t>‹#›</a:t>
            </a:fld>
            <a:endParaRPr lang="en-IN"/>
          </a:p>
        </p:txBody>
      </p:sp>
    </p:spTree>
    <p:extLst>
      <p:ext uri="{BB962C8B-B14F-4D97-AF65-F5344CB8AC3E}">
        <p14:creationId xmlns:p14="http://schemas.microsoft.com/office/powerpoint/2010/main" val="310335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D1860-9689-2ACC-46E7-D883AC74DB68}"/>
              </a:ext>
            </a:extLst>
          </p:cNvPr>
          <p:cNvSpPr>
            <a:spLocks noGrp="1"/>
          </p:cNvSpPr>
          <p:nvPr>
            <p:ph type="ctrTitle"/>
          </p:nvPr>
        </p:nvSpPr>
        <p:spPr/>
        <p:txBody>
          <a:bodyPr/>
          <a:lstStyle/>
          <a:p>
            <a:r>
              <a:rPr lang="en-IN" b="1" dirty="0">
                <a:latin typeface="Aptos" panose="020B0004020202020204" pitchFamily="34" charset="0"/>
              </a:rPr>
              <a:t>Data Presentation</a:t>
            </a:r>
          </a:p>
        </p:txBody>
      </p:sp>
      <p:sp>
        <p:nvSpPr>
          <p:cNvPr id="3" name="Subtitle 2">
            <a:extLst>
              <a:ext uri="{FF2B5EF4-FFF2-40B4-BE49-F238E27FC236}">
                <a16:creationId xmlns:a16="http://schemas.microsoft.com/office/drawing/2014/main" id="{B0E724E5-F135-B210-66DC-44D0FBE7D788}"/>
              </a:ext>
            </a:extLst>
          </p:cNvPr>
          <p:cNvSpPr>
            <a:spLocks noGrp="1"/>
          </p:cNvSpPr>
          <p:nvPr>
            <p:ph type="subTitle" idx="1"/>
          </p:nvPr>
        </p:nvSpPr>
        <p:spPr/>
        <p:txBody>
          <a:bodyPr/>
          <a:lstStyle/>
          <a:p>
            <a:r>
              <a:rPr lang="en-IN" dirty="0"/>
              <a:t>Marketing Analytics Project</a:t>
            </a:r>
          </a:p>
        </p:txBody>
      </p:sp>
    </p:spTree>
    <p:extLst>
      <p:ext uri="{BB962C8B-B14F-4D97-AF65-F5344CB8AC3E}">
        <p14:creationId xmlns:p14="http://schemas.microsoft.com/office/powerpoint/2010/main" val="3217377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9088E-683C-5FE5-14B2-9520D6CCB9CE}"/>
              </a:ext>
            </a:extLst>
          </p:cNvPr>
          <p:cNvSpPr>
            <a:spLocks noGrp="1"/>
          </p:cNvSpPr>
          <p:nvPr>
            <p:ph type="title"/>
          </p:nvPr>
        </p:nvSpPr>
        <p:spPr>
          <a:xfrm>
            <a:off x="838200" y="365126"/>
            <a:ext cx="10515600" cy="716422"/>
          </a:xfrm>
        </p:spPr>
        <p:txBody>
          <a:bodyPr>
            <a:normAutofit/>
          </a:bodyPr>
          <a:lstStyle/>
          <a:p>
            <a:r>
              <a:rPr lang="en-IN" sz="4000" b="1" dirty="0">
                <a:latin typeface="Aptos" panose="020B0004020202020204" pitchFamily="34" charset="0"/>
              </a:rPr>
              <a:t>Overview</a:t>
            </a:r>
          </a:p>
        </p:txBody>
      </p:sp>
      <p:sp>
        <p:nvSpPr>
          <p:cNvPr id="3" name="Content Placeholder 2">
            <a:extLst>
              <a:ext uri="{FF2B5EF4-FFF2-40B4-BE49-F238E27FC236}">
                <a16:creationId xmlns:a16="http://schemas.microsoft.com/office/drawing/2014/main" id="{7CA8F9AE-B2EC-655F-CB5A-6E7164D0B4D6}"/>
              </a:ext>
            </a:extLst>
          </p:cNvPr>
          <p:cNvSpPr>
            <a:spLocks noGrp="1"/>
          </p:cNvSpPr>
          <p:nvPr>
            <p:ph idx="1"/>
          </p:nvPr>
        </p:nvSpPr>
        <p:spPr>
          <a:xfrm>
            <a:off x="838200" y="1396181"/>
            <a:ext cx="10515600" cy="4780782"/>
          </a:xfrm>
        </p:spPr>
        <p:txBody>
          <a:bodyPr numCol="3"/>
          <a:lstStyle/>
          <a:p>
            <a:pPr marL="0" indent="0" algn="just">
              <a:buNone/>
            </a:pPr>
            <a:r>
              <a:rPr lang="en-US" sz="1400" b="1" dirty="0">
                <a:latin typeface="Aptos" panose="020B0004020202020204" pitchFamily="34" charset="0"/>
              </a:rPr>
              <a:t>1. Conversion Rate Analysis</a:t>
            </a:r>
          </a:p>
          <a:p>
            <a:pPr algn="just"/>
            <a:r>
              <a:rPr lang="en-US" sz="1400" dirty="0">
                <a:latin typeface="Aptos" panose="020B0004020202020204" pitchFamily="34" charset="0"/>
              </a:rPr>
              <a:t>The conversion rate showed fluctuations throughout the year. It started strong at </a:t>
            </a:r>
            <a:r>
              <a:rPr lang="en-US" sz="1400" b="1" dirty="0">
                <a:latin typeface="Aptos" panose="020B0004020202020204" pitchFamily="34" charset="0"/>
              </a:rPr>
              <a:t>17.3% in January</a:t>
            </a:r>
            <a:r>
              <a:rPr lang="en-US" sz="1400" dirty="0">
                <a:latin typeface="Aptos" panose="020B0004020202020204" pitchFamily="34" charset="0"/>
              </a:rPr>
              <a:t>, declined during mid-year, reached its lowest point of </a:t>
            </a:r>
            <a:r>
              <a:rPr lang="en-US" sz="1400" b="1" dirty="0">
                <a:latin typeface="Aptos" panose="020B0004020202020204" pitchFamily="34" charset="0"/>
              </a:rPr>
              <a:t>6.1% in October</a:t>
            </a:r>
            <a:r>
              <a:rPr lang="en-US" sz="1400" dirty="0">
                <a:latin typeface="Aptos" panose="020B0004020202020204" pitchFamily="34" charset="0"/>
              </a:rPr>
              <a:t>, and recovered to </a:t>
            </a:r>
            <a:r>
              <a:rPr lang="en-US" sz="1400" b="1" dirty="0">
                <a:latin typeface="Aptos" panose="020B0004020202020204" pitchFamily="34" charset="0"/>
              </a:rPr>
              <a:t>11.4% in December</a:t>
            </a:r>
            <a:r>
              <a:rPr lang="en-US" sz="1400" dirty="0">
                <a:latin typeface="Aptos" panose="020B0004020202020204" pitchFamily="34" charset="0"/>
              </a:rPr>
              <a:t>.</a:t>
            </a:r>
          </a:p>
          <a:p>
            <a:pPr marL="0" indent="0">
              <a:buNone/>
            </a:pPr>
            <a:r>
              <a:rPr lang="en-US" sz="1400" b="1" dirty="0">
                <a:latin typeface="Aptos" panose="020B0004020202020204" pitchFamily="34" charset="0"/>
              </a:rPr>
              <a:t>2. Customer Engagement Analysis</a:t>
            </a:r>
          </a:p>
          <a:p>
            <a:r>
              <a:rPr lang="en-US" sz="1400" dirty="0">
                <a:latin typeface="Aptos" panose="020B0004020202020204" pitchFamily="34" charset="0"/>
              </a:rPr>
              <a:t>The company generated </a:t>
            </a:r>
            <a:r>
              <a:rPr lang="en-US" sz="1400" b="1" dirty="0">
                <a:latin typeface="Aptos" panose="020B0004020202020204" pitchFamily="34" charset="0"/>
              </a:rPr>
              <a:t>12M views</a:t>
            </a:r>
            <a:r>
              <a:rPr lang="en-US" sz="1400" dirty="0">
                <a:latin typeface="Aptos" panose="020B0004020202020204" pitchFamily="34" charset="0"/>
              </a:rPr>
              <a:t>, </a:t>
            </a:r>
            <a:r>
              <a:rPr lang="en-US" sz="1400" b="1" dirty="0">
                <a:latin typeface="Aptos" panose="020B0004020202020204" pitchFamily="34" charset="0"/>
              </a:rPr>
              <a:t>2M clicks</a:t>
            </a:r>
            <a:r>
              <a:rPr lang="en-US" sz="1400" dirty="0">
                <a:latin typeface="Aptos" panose="020B0004020202020204" pitchFamily="34" charset="0"/>
              </a:rPr>
              <a:t>, and </a:t>
            </a:r>
            <a:r>
              <a:rPr lang="en-US" sz="1400" b="1" dirty="0">
                <a:latin typeface="Aptos" panose="020B0004020202020204" pitchFamily="34" charset="0"/>
              </a:rPr>
              <a:t>529K likes</a:t>
            </a:r>
            <a:r>
              <a:rPr lang="en-US" sz="1400" dirty="0">
                <a:latin typeface="Aptos" panose="020B0004020202020204" pitchFamily="34" charset="0"/>
              </a:rPr>
              <a:t>. However, views consistently declined throughout the year from </a:t>
            </a:r>
            <a:r>
              <a:rPr lang="en-US" sz="1400" b="1" dirty="0">
                <a:latin typeface="Aptos" panose="020B0004020202020204" pitchFamily="34" charset="0"/>
              </a:rPr>
              <a:t>1.3M in January</a:t>
            </a:r>
            <a:r>
              <a:rPr lang="en-US" sz="1400" dirty="0">
                <a:latin typeface="Aptos" panose="020B0004020202020204" pitchFamily="34" charset="0"/>
              </a:rPr>
              <a:t> to </a:t>
            </a:r>
            <a:r>
              <a:rPr lang="en-US" sz="1400" b="1" dirty="0">
                <a:latin typeface="Aptos" panose="020B0004020202020204" pitchFamily="34" charset="0"/>
              </a:rPr>
              <a:t>0.7M in December</a:t>
            </a:r>
            <a:r>
              <a:rPr lang="en-US" sz="1400" dirty="0">
                <a:latin typeface="Aptos" panose="020B0004020202020204" pitchFamily="34" charset="0"/>
              </a:rPr>
              <a:t>.</a:t>
            </a:r>
          </a:p>
          <a:p>
            <a:pPr marL="0" indent="0">
              <a:buNone/>
            </a:pPr>
            <a:r>
              <a:rPr lang="en-US" sz="1400" b="1" dirty="0">
                <a:latin typeface="Aptos" panose="020B0004020202020204" pitchFamily="34" charset="0"/>
              </a:rPr>
              <a:t>3. Customer Feedback Analysis</a:t>
            </a:r>
          </a:p>
          <a:p>
            <a:r>
              <a:rPr lang="en-US" sz="1400" dirty="0">
                <a:latin typeface="Aptos" panose="020B0004020202020204" pitchFamily="34" charset="0"/>
              </a:rPr>
              <a:t>The average customer rating is </a:t>
            </a:r>
            <a:r>
              <a:rPr lang="en-US" sz="1400" b="1" dirty="0">
                <a:latin typeface="Aptos" panose="020B0004020202020204" pitchFamily="34" charset="0"/>
              </a:rPr>
              <a:t>3.69</a:t>
            </a:r>
            <a:r>
              <a:rPr lang="en-US" sz="1400" dirty="0">
                <a:latin typeface="Aptos" panose="020B0004020202020204" pitchFamily="34" charset="0"/>
              </a:rPr>
              <a:t>, which remained relatively stable throughout the year but stayed below the target benchmark of </a:t>
            </a:r>
            <a:r>
              <a:rPr lang="en-US" sz="1400" b="1" dirty="0">
                <a:latin typeface="Aptos" panose="020B0004020202020204" pitchFamily="34" charset="0"/>
              </a:rPr>
              <a:t>4.0</a:t>
            </a:r>
            <a:r>
              <a:rPr lang="en-US" sz="1400" dirty="0">
                <a:latin typeface="Aptos" panose="020B0004020202020204" pitchFamily="34" charset="0"/>
              </a:rPr>
              <a:t>.</a:t>
            </a:r>
          </a:p>
          <a:p>
            <a:endParaRPr lang="en-IN" dirty="0"/>
          </a:p>
          <a:p>
            <a:pPr marL="0" indent="0">
              <a:buNone/>
            </a:pPr>
            <a:r>
              <a:rPr lang="en-IN" dirty="0"/>
              <a:t>    </a:t>
            </a:r>
          </a:p>
        </p:txBody>
      </p:sp>
      <p:pic>
        <p:nvPicPr>
          <p:cNvPr id="7" name="Picture 6">
            <a:extLst>
              <a:ext uri="{FF2B5EF4-FFF2-40B4-BE49-F238E27FC236}">
                <a16:creationId xmlns:a16="http://schemas.microsoft.com/office/drawing/2014/main" id="{50624DDE-7AF8-3B51-9097-6D989017E81B}"/>
              </a:ext>
            </a:extLst>
          </p:cNvPr>
          <p:cNvPicPr>
            <a:picLocks noChangeAspect="1"/>
          </p:cNvPicPr>
          <p:nvPr/>
        </p:nvPicPr>
        <p:blipFill>
          <a:blip r:embed="rId2"/>
          <a:stretch>
            <a:fillRect/>
          </a:stretch>
        </p:blipFill>
        <p:spPr>
          <a:xfrm>
            <a:off x="4887029" y="1396181"/>
            <a:ext cx="6872352" cy="4380271"/>
          </a:xfrm>
          <a:prstGeom prst="rect">
            <a:avLst/>
          </a:prstGeom>
        </p:spPr>
      </p:pic>
      <p:sp>
        <p:nvSpPr>
          <p:cNvPr id="8" name="Oval 7">
            <a:extLst>
              <a:ext uri="{FF2B5EF4-FFF2-40B4-BE49-F238E27FC236}">
                <a16:creationId xmlns:a16="http://schemas.microsoft.com/office/drawing/2014/main" id="{19BB3BE4-F896-B672-9577-5C6ACB2AACC9}"/>
              </a:ext>
            </a:extLst>
          </p:cNvPr>
          <p:cNvSpPr/>
          <p:nvPr/>
        </p:nvSpPr>
        <p:spPr>
          <a:xfrm>
            <a:off x="8445910" y="2231923"/>
            <a:ext cx="668593" cy="717754"/>
          </a:xfrm>
          <a:prstGeom prst="ellipse">
            <a:avLst/>
          </a:prstGeom>
          <a:noFill/>
          <a:ln w="9525" cap="flat" cmpd="sng" algn="ctr">
            <a:solidFill>
              <a:schemeClr val="accent2">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F637AC5B-63F3-6900-4B45-22C9B4DC4AAE}"/>
              </a:ext>
            </a:extLst>
          </p:cNvPr>
          <p:cNvCxnSpPr/>
          <p:nvPr/>
        </p:nvCxnSpPr>
        <p:spPr>
          <a:xfrm>
            <a:off x="9920748" y="3244645"/>
            <a:ext cx="1563329" cy="341671"/>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D09A765-2B8D-86F9-DD68-62CABE0C9CD8}"/>
              </a:ext>
            </a:extLst>
          </p:cNvPr>
          <p:cNvSpPr/>
          <p:nvPr/>
        </p:nvSpPr>
        <p:spPr>
          <a:xfrm>
            <a:off x="8445910" y="4876800"/>
            <a:ext cx="953729" cy="717754"/>
          </a:xfrm>
          <a:prstGeom prst="rect">
            <a:avLst/>
          </a:prstGeom>
          <a:noFill/>
          <a:ln w="9525" cap="flat" cmpd="sng" algn="ctr">
            <a:solidFill>
              <a:schemeClr val="accent2">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Tree>
    <p:extLst>
      <p:ext uri="{BB962C8B-B14F-4D97-AF65-F5344CB8AC3E}">
        <p14:creationId xmlns:p14="http://schemas.microsoft.com/office/powerpoint/2010/main" val="115090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577A6-A683-CBD5-F33A-8FBE41B1908F}"/>
              </a:ext>
            </a:extLst>
          </p:cNvPr>
          <p:cNvSpPr>
            <a:spLocks noGrp="1"/>
          </p:cNvSpPr>
          <p:nvPr>
            <p:ph type="title"/>
          </p:nvPr>
        </p:nvSpPr>
        <p:spPr>
          <a:xfrm>
            <a:off x="521110" y="285135"/>
            <a:ext cx="10832690" cy="688259"/>
          </a:xfrm>
        </p:spPr>
        <p:txBody>
          <a:bodyPr>
            <a:normAutofit fontScale="90000"/>
          </a:bodyPr>
          <a:lstStyle/>
          <a:p>
            <a:r>
              <a:rPr lang="nb-NO" b="1" dirty="0">
                <a:latin typeface="Aptos" panose="020B0004020202020204" pitchFamily="34" charset="0"/>
              </a:rPr>
              <a:t>Decreased Conversion Rates</a:t>
            </a:r>
            <a:endParaRPr lang="en-IN" b="1" dirty="0">
              <a:latin typeface="Aptos" panose="020B0004020202020204" pitchFamily="34" charset="0"/>
            </a:endParaRPr>
          </a:p>
        </p:txBody>
      </p:sp>
      <p:sp>
        <p:nvSpPr>
          <p:cNvPr id="3" name="Content Placeholder 2">
            <a:extLst>
              <a:ext uri="{FF2B5EF4-FFF2-40B4-BE49-F238E27FC236}">
                <a16:creationId xmlns:a16="http://schemas.microsoft.com/office/drawing/2014/main" id="{6A010549-4E0D-F9EB-F0B2-58A927284F27}"/>
              </a:ext>
            </a:extLst>
          </p:cNvPr>
          <p:cNvSpPr>
            <a:spLocks noGrp="1"/>
          </p:cNvSpPr>
          <p:nvPr>
            <p:ph idx="1"/>
          </p:nvPr>
        </p:nvSpPr>
        <p:spPr>
          <a:xfrm>
            <a:off x="521110" y="1160206"/>
            <a:ext cx="10832690" cy="5791200"/>
          </a:xfrm>
        </p:spPr>
        <p:txBody>
          <a:bodyPr numCol="3"/>
          <a:lstStyle/>
          <a:p>
            <a:pPr marL="0" indent="0" algn="just">
              <a:buNone/>
            </a:pPr>
            <a:r>
              <a:rPr lang="en-US" sz="1400" b="1" dirty="0">
                <a:latin typeface="Aptos" panose="020B0004020202020204" pitchFamily="34" charset="0"/>
              </a:rPr>
              <a:t>1. General Conversion Trend:</a:t>
            </a:r>
          </a:p>
          <a:p>
            <a:pPr marL="0" indent="0" algn="just">
              <a:buNone/>
            </a:pPr>
            <a:r>
              <a:rPr lang="en-US" sz="1400" dirty="0">
                <a:latin typeface="Aptos" panose="020B0004020202020204" pitchFamily="34" charset="0"/>
              </a:rPr>
              <a:t>Throughout the year, conversion rates fluctuated across different products and months. The overall conversion rate remained highest in </a:t>
            </a:r>
            <a:r>
              <a:rPr lang="en-US" sz="1400" b="1" dirty="0">
                <a:latin typeface="Aptos" panose="020B0004020202020204" pitchFamily="34" charset="0"/>
              </a:rPr>
              <a:t>January (17.3%)</a:t>
            </a:r>
            <a:r>
              <a:rPr lang="en-US" sz="1400" dirty="0">
                <a:latin typeface="Aptos" panose="020B0004020202020204" pitchFamily="34" charset="0"/>
              </a:rPr>
              <a:t>, followed by relatively strong performance in </a:t>
            </a:r>
            <a:r>
              <a:rPr lang="en-US" sz="1400" b="1" dirty="0">
                <a:latin typeface="Aptos" panose="020B0004020202020204" pitchFamily="34" charset="0"/>
              </a:rPr>
              <a:t>February (10.2%)</a:t>
            </a:r>
            <a:r>
              <a:rPr lang="en-US" sz="1400" dirty="0">
                <a:latin typeface="Aptos" panose="020B0004020202020204" pitchFamily="34" charset="0"/>
              </a:rPr>
              <a:t> and </a:t>
            </a:r>
            <a:r>
              <a:rPr lang="en-US" sz="1400" b="1" dirty="0">
                <a:latin typeface="Aptos" panose="020B0004020202020204" pitchFamily="34" charset="0"/>
              </a:rPr>
              <a:t>June (10.5%)</a:t>
            </a:r>
            <a:r>
              <a:rPr lang="en-US" sz="1400" dirty="0">
                <a:latin typeface="Aptos" panose="020B0004020202020204" pitchFamily="34" charset="0"/>
              </a:rPr>
              <a:t>. This indicates seasonal demand patterns and highlights opportunities to improve performance during weaker months.</a:t>
            </a:r>
          </a:p>
          <a:p>
            <a:pPr marL="0" indent="0" algn="just">
              <a:buNone/>
            </a:pPr>
            <a:r>
              <a:rPr lang="en-US" sz="1400" b="1" dirty="0">
                <a:latin typeface="Aptos" panose="020B0004020202020204" pitchFamily="34" charset="0"/>
              </a:rPr>
              <a:t>2. Lowest Conversion Month:</a:t>
            </a:r>
          </a:p>
          <a:p>
            <a:pPr marL="0" indent="0" algn="just">
              <a:buNone/>
            </a:pPr>
            <a:r>
              <a:rPr lang="en-US" sz="1400" b="1" dirty="0">
                <a:latin typeface="Aptos" panose="020B0004020202020204" pitchFamily="34" charset="0"/>
              </a:rPr>
              <a:t>October recorded the lowest overall conversion rate at 6.1%</a:t>
            </a:r>
            <a:r>
              <a:rPr lang="en-US" sz="1400" dirty="0">
                <a:latin typeface="Aptos" panose="020B0004020202020204" pitchFamily="34" charset="0"/>
              </a:rPr>
              <a:t>, where most products showed relatively weaker conversion performance. This suggests a need to revisit marketing campaigns, promotional strategies, or product targeting during this period.</a:t>
            </a:r>
          </a:p>
          <a:p>
            <a:pPr marL="0" indent="0" algn="just">
              <a:buNone/>
            </a:pPr>
            <a:r>
              <a:rPr lang="en-US" sz="1400" b="1" dirty="0">
                <a:latin typeface="Aptos" panose="020B0004020202020204" pitchFamily="34" charset="0"/>
              </a:rPr>
              <a:t>3.Highest Conversion Rates:</a:t>
            </a:r>
          </a:p>
          <a:p>
            <a:pPr marL="0" indent="0" algn="just">
              <a:buNone/>
            </a:pPr>
            <a:r>
              <a:rPr lang="en-US" sz="1400" b="1" dirty="0">
                <a:latin typeface="Aptos" panose="020B0004020202020204" pitchFamily="34" charset="0"/>
              </a:rPr>
              <a:t>January recorded the highest overall conversion rate at 17.3%</a:t>
            </a:r>
            <a:r>
              <a:rPr lang="en-US" sz="1400" dirty="0">
                <a:latin typeface="Aptos" panose="020B0004020202020204" pitchFamily="34" charset="0"/>
              </a:rPr>
              <a:t>, driven by strong     product performance such as </a:t>
            </a:r>
            <a:r>
              <a:rPr lang="en-US" sz="1400" b="1" dirty="0">
                <a:latin typeface="Aptos" panose="020B0004020202020204" pitchFamily="34" charset="0"/>
              </a:rPr>
              <a:t>Ski Boots (100%)</a:t>
            </a:r>
            <a:r>
              <a:rPr lang="en-US" sz="1400" dirty="0">
                <a:latin typeface="Aptos" panose="020B0004020202020204" pitchFamily="34" charset="0"/>
              </a:rPr>
              <a:t>, </a:t>
            </a:r>
            <a:r>
              <a:rPr lang="en-US" sz="1400" b="1" dirty="0">
                <a:latin typeface="Aptos" panose="020B0004020202020204" pitchFamily="34" charset="0"/>
              </a:rPr>
              <a:t>Soccer Ball (75%)</a:t>
            </a:r>
            <a:r>
              <a:rPr lang="en-US" sz="1400" dirty="0">
                <a:latin typeface="Aptos" panose="020B0004020202020204" pitchFamily="34" charset="0"/>
              </a:rPr>
              <a:t>, and </a:t>
            </a:r>
            <a:r>
              <a:rPr lang="en-US" sz="1400" b="1" dirty="0">
                <a:latin typeface="Aptos" panose="020B0004020202020204" pitchFamily="34" charset="0"/>
              </a:rPr>
              <a:t>Basketball (50%)</a:t>
            </a:r>
            <a:r>
              <a:rPr lang="en-US" sz="1400" dirty="0">
                <a:latin typeface="Aptos" panose="020B0004020202020204" pitchFamily="34" charset="0"/>
              </a:rPr>
              <a:t> in specific months. This indicates strong seasonal demand and effective campaign performance during peak periods.</a:t>
            </a:r>
          </a:p>
          <a:p>
            <a:pPr marL="0" indent="0" algn="just">
              <a:buNone/>
            </a:pPr>
            <a:endParaRPr lang="en-US" sz="1400" dirty="0">
              <a:latin typeface="Aptos" panose="020B0004020202020204" pitchFamily="34" charset="0"/>
            </a:endParaRPr>
          </a:p>
          <a:p>
            <a:endParaRPr lang="en-IN" dirty="0"/>
          </a:p>
        </p:txBody>
      </p:sp>
      <p:pic>
        <p:nvPicPr>
          <p:cNvPr id="7" name="Picture 6">
            <a:extLst>
              <a:ext uri="{FF2B5EF4-FFF2-40B4-BE49-F238E27FC236}">
                <a16:creationId xmlns:a16="http://schemas.microsoft.com/office/drawing/2014/main" id="{6E7C2C30-B583-61AC-B9B4-DE8897DFF7BA}"/>
              </a:ext>
            </a:extLst>
          </p:cNvPr>
          <p:cNvPicPr>
            <a:picLocks noChangeAspect="1"/>
          </p:cNvPicPr>
          <p:nvPr/>
        </p:nvPicPr>
        <p:blipFill>
          <a:blip r:embed="rId2"/>
          <a:stretch>
            <a:fillRect/>
          </a:stretch>
        </p:blipFill>
        <p:spPr>
          <a:xfrm>
            <a:off x="4542503" y="1832991"/>
            <a:ext cx="7128387" cy="4518648"/>
          </a:xfrm>
          <a:prstGeom prst="rect">
            <a:avLst/>
          </a:prstGeom>
        </p:spPr>
      </p:pic>
      <p:sp>
        <p:nvSpPr>
          <p:cNvPr id="8" name="Rectangle 7">
            <a:extLst>
              <a:ext uri="{FF2B5EF4-FFF2-40B4-BE49-F238E27FC236}">
                <a16:creationId xmlns:a16="http://schemas.microsoft.com/office/drawing/2014/main" id="{25FBA7F8-9471-05BF-67DD-CF7C9A718D2B}"/>
              </a:ext>
            </a:extLst>
          </p:cNvPr>
          <p:cNvSpPr/>
          <p:nvPr/>
        </p:nvSpPr>
        <p:spPr>
          <a:xfrm>
            <a:off x="5456903" y="1681316"/>
            <a:ext cx="639097" cy="4807974"/>
          </a:xfrm>
          <a:prstGeom prst="rect">
            <a:avLst/>
          </a:prstGeom>
          <a:noFill/>
          <a:ln w="9525"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
        <p:nvSpPr>
          <p:cNvPr id="9" name="Rectangle 8">
            <a:extLst>
              <a:ext uri="{FF2B5EF4-FFF2-40B4-BE49-F238E27FC236}">
                <a16:creationId xmlns:a16="http://schemas.microsoft.com/office/drawing/2014/main" id="{809E6698-1C73-2A0C-35E1-6C5238A69E48}"/>
              </a:ext>
            </a:extLst>
          </p:cNvPr>
          <p:cNvSpPr/>
          <p:nvPr/>
        </p:nvSpPr>
        <p:spPr>
          <a:xfrm>
            <a:off x="7315200" y="1681316"/>
            <a:ext cx="639097" cy="4891549"/>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Tree>
    <p:extLst>
      <p:ext uri="{BB962C8B-B14F-4D97-AF65-F5344CB8AC3E}">
        <p14:creationId xmlns:p14="http://schemas.microsoft.com/office/powerpoint/2010/main" val="3492132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7832-D43F-470C-D51A-0C638B011A9B}"/>
              </a:ext>
            </a:extLst>
          </p:cNvPr>
          <p:cNvSpPr>
            <a:spLocks noGrp="1"/>
          </p:cNvSpPr>
          <p:nvPr>
            <p:ph type="title"/>
          </p:nvPr>
        </p:nvSpPr>
        <p:spPr>
          <a:xfrm>
            <a:off x="838200" y="365126"/>
            <a:ext cx="10515600" cy="736088"/>
          </a:xfrm>
        </p:spPr>
        <p:txBody>
          <a:bodyPr>
            <a:normAutofit/>
          </a:bodyPr>
          <a:lstStyle/>
          <a:p>
            <a:r>
              <a:rPr lang="en-US" sz="4000" b="1" dirty="0">
                <a:latin typeface="Aptos" panose="020B0004020202020204" pitchFamily="34" charset="0"/>
              </a:rPr>
              <a:t>Reduced Customer Engagement</a:t>
            </a:r>
            <a:endParaRPr lang="en-IN" sz="4000" b="1" dirty="0">
              <a:latin typeface="Aptos" panose="020B0004020202020204" pitchFamily="34" charset="0"/>
            </a:endParaRPr>
          </a:p>
        </p:txBody>
      </p:sp>
      <p:sp>
        <p:nvSpPr>
          <p:cNvPr id="3" name="Content Placeholder 2">
            <a:extLst>
              <a:ext uri="{FF2B5EF4-FFF2-40B4-BE49-F238E27FC236}">
                <a16:creationId xmlns:a16="http://schemas.microsoft.com/office/drawing/2014/main" id="{24B91514-8062-7259-F839-BF968B1082EC}"/>
              </a:ext>
            </a:extLst>
          </p:cNvPr>
          <p:cNvSpPr>
            <a:spLocks noGrp="1"/>
          </p:cNvSpPr>
          <p:nvPr>
            <p:ph idx="1"/>
          </p:nvPr>
        </p:nvSpPr>
        <p:spPr>
          <a:xfrm>
            <a:off x="838200" y="1209368"/>
            <a:ext cx="10515600" cy="4967595"/>
          </a:xfrm>
        </p:spPr>
        <p:txBody>
          <a:bodyPr numCol="2"/>
          <a:lstStyle/>
          <a:p>
            <a:pPr algn="just"/>
            <a:r>
              <a:rPr lang="en-US" sz="1400" b="1" dirty="0">
                <a:latin typeface="Aptos" panose="020B0004020202020204" pitchFamily="34" charset="0"/>
              </a:rPr>
              <a:t>Declining Views:</a:t>
            </a:r>
          </a:p>
          <a:p>
            <a:pPr marL="0" indent="0" algn="just">
              <a:buNone/>
            </a:pPr>
            <a:r>
              <a:rPr lang="en-US" sz="1400" dirty="0">
                <a:latin typeface="Aptos" panose="020B0004020202020204" pitchFamily="34" charset="0"/>
              </a:rPr>
              <a:t>Overall views were highest during the first half of the year, peaking         around </a:t>
            </a:r>
            <a:r>
              <a:rPr lang="en-US" sz="1400" b="1" dirty="0">
                <a:latin typeface="Aptos" panose="020B0004020202020204" pitchFamily="34" charset="0"/>
              </a:rPr>
              <a:t>April (approximately 1.3M views)</a:t>
            </a:r>
            <a:r>
              <a:rPr lang="en-US" sz="1400" dirty="0">
                <a:latin typeface="Aptos" panose="020B0004020202020204" pitchFamily="34" charset="0"/>
              </a:rPr>
              <a:t>. After April, views showed a consistent downward trend and dropped to nearly </a:t>
            </a:r>
            <a:r>
              <a:rPr lang="en-US" sz="1400" b="1" dirty="0">
                <a:latin typeface="Aptos" panose="020B0004020202020204" pitchFamily="34" charset="0"/>
              </a:rPr>
              <a:t>0.7M by November and December</a:t>
            </a:r>
            <a:r>
              <a:rPr lang="en-US" sz="1400" dirty="0">
                <a:latin typeface="Aptos" panose="020B0004020202020204" pitchFamily="34" charset="0"/>
              </a:rPr>
              <a:t>, indicating reduced audience reach in the later months.</a:t>
            </a:r>
          </a:p>
          <a:p>
            <a:pPr algn="just"/>
            <a:r>
              <a:rPr lang="en-US" sz="1400" b="1" dirty="0">
                <a:latin typeface="Aptos" panose="020B0004020202020204" pitchFamily="34" charset="0"/>
              </a:rPr>
              <a:t>Low Interaction Rates:</a:t>
            </a:r>
          </a:p>
          <a:p>
            <a:pPr marL="0" indent="0" algn="just">
              <a:buNone/>
            </a:pPr>
            <a:r>
              <a:rPr lang="en-US" sz="1400" dirty="0">
                <a:latin typeface="Aptos" panose="020B0004020202020204" pitchFamily="34" charset="0"/>
              </a:rPr>
              <a:t>Clicks and likes remained significantly lower compared to total views throughout the year. Although users were viewing content, lower interaction levels suggest the need for more engaging content and stronger call-to-action strategies.</a:t>
            </a:r>
          </a:p>
          <a:p>
            <a:pPr algn="just"/>
            <a:r>
              <a:rPr lang="en-US" sz="1400" b="1" dirty="0">
                <a:latin typeface="Aptos" panose="020B0004020202020204" pitchFamily="34" charset="0"/>
              </a:rPr>
              <a:t>Content Type Performance:</a:t>
            </a:r>
          </a:p>
          <a:p>
            <a:pPr marL="0" indent="0" algn="just">
              <a:buNone/>
            </a:pPr>
            <a:r>
              <a:rPr lang="en-US" sz="1400" b="1" dirty="0">
                <a:latin typeface="Aptos" panose="020B0004020202020204" pitchFamily="34" charset="0"/>
              </a:rPr>
              <a:t>Social Media content generated the highest views in the early months</a:t>
            </a:r>
            <a:r>
              <a:rPr lang="en-US" sz="1400" dirty="0">
                <a:latin typeface="Aptos" panose="020B0004020202020204" pitchFamily="34" charset="0"/>
              </a:rPr>
              <a:t>, particularly in </a:t>
            </a:r>
            <a:r>
              <a:rPr lang="en-US" sz="1400" b="1" dirty="0">
                <a:latin typeface="Aptos" panose="020B0004020202020204" pitchFamily="34" charset="0"/>
              </a:rPr>
              <a:t>February and March</a:t>
            </a:r>
            <a:r>
              <a:rPr lang="en-US" sz="1400" dirty="0">
                <a:latin typeface="Aptos" panose="020B0004020202020204" pitchFamily="34" charset="0"/>
              </a:rPr>
              <a:t>. Blog and Newsletter content maintained relatively stable performance throughout the year, while Video content showed comparatively lower engagement in most months.</a:t>
            </a:r>
          </a:p>
          <a:p>
            <a:endParaRPr lang="en-IN" dirty="0"/>
          </a:p>
        </p:txBody>
      </p:sp>
      <p:pic>
        <p:nvPicPr>
          <p:cNvPr id="6" name="Picture 5">
            <a:extLst>
              <a:ext uri="{FF2B5EF4-FFF2-40B4-BE49-F238E27FC236}">
                <a16:creationId xmlns:a16="http://schemas.microsoft.com/office/drawing/2014/main" id="{AD28B69F-F1D1-C263-20D7-7D6F54BA38E9}"/>
              </a:ext>
            </a:extLst>
          </p:cNvPr>
          <p:cNvPicPr>
            <a:picLocks noChangeAspect="1"/>
          </p:cNvPicPr>
          <p:nvPr/>
        </p:nvPicPr>
        <p:blipFill>
          <a:blip r:embed="rId2"/>
          <a:stretch>
            <a:fillRect/>
          </a:stretch>
        </p:blipFill>
        <p:spPr>
          <a:xfrm>
            <a:off x="6470028" y="3701538"/>
            <a:ext cx="5314389" cy="2475425"/>
          </a:xfrm>
          <a:prstGeom prst="rect">
            <a:avLst/>
          </a:prstGeom>
        </p:spPr>
      </p:pic>
      <p:pic>
        <p:nvPicPr>
          <p:cNvPr id="8" name="Picture 7">
            <a:extLst>
              <a:ext uri="{FF2B5EF4-FFF2-40B4-BE49-F238E27FC236}">
                <a16:creationId xmlns:a16="http://schemas.microsoft.com/office/drawing/2014/main" id="{88FDFB31-8BE7-0C2C-C9F6-B874DDEA7957}"/>
              </a:ext>
            </a:extLst>
          </p:cNvPr>
          <p:cNvPicPr>
            <a:picLocks noChangeAspect="1"/>
          </p:cNvPicPr>
          <p:nvPr/>
        </p:nvPicPr>
        <p:blipFill>
          <a:blip r:embed="rId3"/>
          <a:stretch>
            <a:fillRect/>
          </a:stretch>
        </p:blipFill>
        <p:spPr>
          <a:xfrm>
            <a:off x="6470028" y="1524000"/>
            <a:ext cx="5229955" cy="1844087"/>
          </a:xfrm>
          <a:prstGeom prst="rect">
            <a:avLst/>
          </a:prstGeom>
        </p:spPr>
      </p:pic>
      <p:cxnSp>
        <p:nvCxnSpPr>
          <p:cNvPr id="10" name="Straight Arrow Connector 9">
            <a:extLst>
              <a:ext uri="{FF2B5EF4-FFF2-40B4-BE49-F238E27FC236}">
                <a16:creationId xmlns:a16="http://schemas.microsoft.com/office/drawing/2014/main" id="{88173085-E9A5-5B20-762E-5D9E48ACEB07}"/>
              </a:ext>
            </a:extLst>
          </p:cNvPr>
          <p:cNvCxnSpPr/>
          <p:nvPr/>
        </p:nvCxnSpPr>
        <p:spPr>
          <a:xfrm>
            <a:off x="8249265" y="1524000"/>
            <a:ext cx="2959509" cy="5702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787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DCC73-2E7B-0CB8-417E-2943CCFEAAFE}"/>
              </a:ext>
            </a:extLst>
          </p:cNvPr>
          <p:cNvSpPr>
            <a:spLocks noGrp="1"/>
          </p:cNvSpPr>
          <p:nvPr>
            <p:ph type="title"/>
          </p:nvPr>
        </p:nvSpPr>
        <p:spPr>
          <a:xfrm>
            <a:off x="838200" y="365125"/>
            <a:ext cx="10515600" cy="706591"/>
          </a:xfrm>
        </p:spPr>
        <p:txBody>
          <a:bodyPr>
            <a:normAutofit/>
          </a:bodyPr>
          <a:lstStyle/>
          <a:p>
            <a:r>
              <a:rPr lang="nb-NO" sz="4000" b="1" dirty="0">
                <a:latin typeface="Aptos" panose="020B0004020202020204" pitchFamily="34" charset="0"/>
              </a:rPr>
              <a:t>Customer Feedback Analysis</a:t>
            </a:r>
            <a:endParaRPr lang="en-IN" sz="4000" b="1" dirty="0">
              <a:latin typeface="Aptos" panose="020B0004020202020204" pitchFamily="34" charset="0"/>
            </a:endParaRPr>
          </a:p>
        </p:txBody>
      </p:sp>
      <p:pic>
        <p:nvPicPr>
          <p:cNvPr id="5" name="Content Placeholder 4">
            <a:extLst>
              <a:ext uri="{FF2B5EF4-FFF2-40B4-BE49-F238E27FC236}">
                <a16:creationId xmlns:a16="http://schemas.microsoft.com/office/drawing/2014/main" id="{A6C05000-7AAB-5E67-D03A-494C9DF6B77D}"/>
              </a:ext>
            </a:extLst>
          </p:cNvPr>
          <p:cNvPicPr>
            <a:picLocks noGrp="1" noChangeAspect="1"/>
          </p:cNvPicPr>
          <p:nvPr>
            <p:ph idx="1"/>
          </p:nvPr>
        </p:nvPicPr>
        <p:blipFill>
          <a:blip r:embed="rId2"/>
          <a:stretch>
            <a:fillRect/>
          </a:stretch>
        </p:blipFill>
        <p:spPr>
          <a:xfrm>
            <a:off x="7354529" y="1691147"/>
            <a:ext cx="3645139" cy="1833973"/>
          </a:xfrm>
          <a:prstGeom prst="rect">
            <a:avLst/>
          </a:prstGeom>
        </p:spPr>
      </p:pic>
      <p:pic>
        <p:nvPicPr>
          <p:cNvPr id="7" name="Picture 6">
            <a:extLst>
              <a:ext uri="{FF2B5EF4-FFF2-40B4-BE49-F238E27FC236}">
                <a16:creationId xmlns:a16="http://schemas.microsoft.com/office/drawing/2014/main" id="{EB8552BB-6482-E153-AEAC-78B8C584D057}"/>
              </a:ext>
            </a:extLst>
          </p:cNvPr>
          <p:cNvPicPr>
            <a:picLocks noChangeAspect="1"/>
          </p:cNvPicPr>
          <p:nvPr/>
        </p:nvPicPr>
        <p:blipFill>
          <a:blip r:embed="rId3"/>
          <a:stretch>
            <a:fillRect/>
          </a:stretch>
        </p:blipFill>
        <p:spPr>
          <a:xfrm>
            <a:off x="7354529" y="3758279"/>
            <a:ext cx="3645139" cy="2200582"/>
          </a:xfrm>
          <a:prstGeom prst="rect">
            <a:avLst/>
          </a:prstGeom>
        </p:spPr>
      </p:pic>
      <p:sp>
        <p:nvSpPr>
          <p:cNvPr id="8" name="TextBox 7">
            <a:extLst>
              <a:ext uri="{FF2B5EF4-FFF2-40B4-BE49-F238E27FC236}">
                <a16:creationId xmlns:a16="http://schemas.microsoft.com/office/drawing/2014/main" id="{19DAF243-3BC5-5F5F-A7D4-64D9CE4A987B}"/>
              </a:ext>
            </a:extLst>
          </p:cNvPr>
          <p:cNvSpPr txBox="1"/>
          <p:nvPr/>
        </p:nvSpPr>
        <p:spPr>
          <a:xfrm>
            <a:off x="838200" y="1634620"/>
            <a:ext cx="5987846" cy="4185761"/>
          </a:xfrm>
          <a:prstGeom prst="rect">
            <a:avLst/>
          </a:prstGeom>
          <a:noFill/>
        </p:spPr>
        <p:txBody>
          <a:bodyPr wrap="square" rtlCol="0">
            <a:spAutoFit/>
          </a:bodyPr>
          <a:lstStyle/>
          <a:p>
            <a:pPr algn="just"/>
            <a:r>
              <a:rPr lang="en-US" sz="1400" b="1" dirty="0">
                <a:latin typeface="Aptos" panose="020B0004020202020204" pitchFamily="34" charset="0"/>
              </a:rPr>
              <a:t>Customer Ratings Distribution:</a:t>
            </a:r>
          </a:p>
          <a:p>
            <a:pPr algn="just"/>
            <a:r>
              <a:rPr lang="en-US" sz="1400" dirty="0">
                <a:latin typeface="Aptos" panose="020B0004020202020204" pitchFamily="34" charset="0"/>
              </a:rPr>
              <a:t>The majority of customer reviews fall under higher ratings, with </a:t>
            </a:r>
            <a:r>
              <a:rPr lang="en-US" sz="1400" b="1" dirty="0">
                <a:latin typeface="Aptos" panose="020B0004020202020204" pitchFamily="34" charset="0"/>
              </a:rPr>
              <a:t>4-star ratings having the highest count (around 430 customers)</a:t>
            </a:r>
            <a:r>
              <a:rPr lang="en-US" sz="1400" dirty="0">
                <a:latin typeface="Aptos" panose="020B0004020202020204" pitchFamily="34" charset="0"/>
              </a:rPr>
              <a:t>, followed by </a:t>
            </a:r>
            <a:r>
              <a:rPr lang="en-US" sz="1400" b="1" dirty="0">
                <a:latin typeface="Aptos" panose="020B0004020202020204" pitchFamily="34" charset="0"/>
              </a:rPr>
              <a:t>5-star ratings (around 410 customers)</a:t>
            </a:r>
            <a:r>
              <a:rPr lang="en-US" sz="1400" dirty="0">
                <a:latin typeface="Aptos" panose="020B0004020202020204" pitchFamily="34" charset="0"/>
              </a:rPr>
              <a:t>. Lower ratings such as 1-star and 2-star reviews are significantly lower, indicating that overall customer satisfaction is generally positive.</a:t>
            </a:r>
          </a:p>
          <a:p>
            <a:pPr algn="just"/>
            <a:endParaRPr lang="en-US" sz="1400" dirty="0">
              <a:latin typeface="Aptos" panose="020B0004020202020204" pitchFamily="34" charset="0"/>
            </a:endParaRPr>
          </a:p>
          <a:p>
            <a:pPr algn="just"/>
            <a:r>
              <a:rPr lang="en-US" sz="1400" b="1" dirty="0">
                <a:latin typeface="Aptos" panose="020B0004020202020204" pitchFamily="34" charset="0"/>
              </a:rPr>
              <a:t>Sentiment Analysis:</a:t>
            </a:r>
          </a:p>
          <a:p>
            <a:pPr algn="just"/>
            <a:r>
              <a:rPr lang="en-US" sz="1400" b="1" dirty="0">
                <a:latin typeface="Aptos" panose="020B0004020202020204" pitchFamily="34" charset="0"/>
              </a:rPr>
              <a:t>Positive sentiment dominates customer feedback, with approximately 800+ customers</a:t>
            </a:r>
            <a:r>
              <a:rPr lang="en-US" sz="1400" dirty="0">
                <a:latin typeface="Aptos" panose="020B0004020202020204" pitchFamily="34" charset="0"/>
              </a:rPr>
              <a:t>, showing that most customers had a favorable experience. Negative, mixed negative, and neutral sentiments are comparatively lower but still highlight areas where customer experience can be improved.</a:t>
            </a:r>
          </a:p>
          <a:p>
            <a:pPr algn="just"/>
            <a:endParaRPr lang="en-US" sz="1400" dirty="0">
              <a:latin typeface="Aptos" panose="020B0004020202020204" pitchFamily="34" charset="0"/>
            </a:endParaRPr>
          </a:p>
          <a:p>
            <a:pPr algn="just"/>
            <a:r>
              <a:rPr lang="en-US" sz="1400" b="1" dirty="0">
                <a:latin typeface="Aptos" panose="020B0004020202020204" pitchFamily="34" charset="0"/>
              </a:rPr>
              <a:t>Opportunity for Improvement:</a:t>
            </a:r>
          </a:p>
          <a:p>
            <a:r>
              <a:rPr lang="en-US" sz="1400" dirty="0">
                <a:latin typeface="Aptos" panose="020B0004020202020204" pitchFamily="34" charset="0"/>
              </a:rPr>
              <a:t>Although overall feedback is positive, the presence of negative, mixed negative, and neutral sentiments indicates opportunities to improve product quality, customer service, and post-purchase experience. Addressing these concerns can help increase customer satisfaction and generate more positive reviews.</a:t>
            </a:r>
          </a:p>
        </p:txBody>
      </p:sp>
    </p:spTree>
    <p:extLst>
      <p:ext uri="{BB962C8B-B14F-4D97-AF65-F5344CB8AC3E}">
        <p14:creationId xmlns:p14="http://schemas.microsoft.com/office/powerpoint/2010/main" val="2055014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A670-B232-DEE8-66C4-DCB209DA8E3B}"/>
              </a:ext>
            </a:extLst>
          </p:cNvPr>
          <p:cNvSpPr>
            <a:spLocks noGrp="1"/>
          </p:cNvSpPr>
          <p:nvPr>
            <p:ph type="title"/>
          </p:nvPr>
        </p:nvSpPr>
        <p:spPr>
          <a:xfrm>
            <a:off x="838200" y="216311"/>
            <a:ext cx="10515600" cy="658760"/>
          </a:xfrm>
        </p:spPr>
        <p:txBody>
          <a:bodyPr>
            <a:normAutofit/>
          </a:bodyPr>
          <a:lstStyle/>
          <a:p>
            <a:r>
              <a:rPr lang="nb-NO" sz="4000" b="1" dirty="0">
                <a:latin typeface="Aptos" panose="020B0004020202020204" pitchFamily="34" charset="0"/>
              </a:rPr>
              <a:t>Goals &amp; Actions</a:t>
            </a:r>
            <a:endParaRPr lang="en-IN" sz="4000" b="1" dirty="0">
              <a:latin typeface="Aptos" panose="020B0004020202020204" pitchFamily="34" charset="0"/>
            </a:endParaRPr>
          </a:p>
        </p:txBody>
      </p:sp>
      <p:sp>
        <p:nvSpPr>
          <p:cNvPr id="5" name="Content Placeholder 4">
            <a:extLst>
              <a:ext uri="{FF2B5EF4-FFF2-40B4-BE49-F238E27FC236}">
                <a16:creationId xmlns:a16="http://schemas.microsoft.com/office/drawing/2014/main" id="{7240FDC5-0499-C313-1FC7-31FB0295DDC4}"/>
              </a:ext>
            </a:extLst>
          </p:cNvPr>
          <p:cNvSpPr>
            <a:spLocks noGrp="1"/>
          </p:cNvSpPr>
          <p:nvPr>
            <p:ph idx="1"/>
          </p:nvPr>
        </p:nvSpPr>
        <p:spPr>
          <a:xfrm>
            <a:off x="838200" y="1278193"/>
            <a:ext cx="5710084" cy="5447071"/>
          </a:xfrm>
        </p:spPr>
        <p:txBody>
          <a:bodyPr>
            <a:normAutofit fontScale="55000" lnSpcReduction="20000"/>
          </a:bodyPr>
          <a:lstStyle/>
          <a:p>
            <a:pPr marL="0" indent="0">
              <a:buNone/>
            </a:pPr>
            <a:r>
              <a:rPr lang="en-US" b="1" dirty="0">
                <a:latin typeface="Aptos" panose="020B0004020202020204" pitchFamily="34" charset="0"/>
              </a:rPr>
              <a:t>GOALS</a:t>
            </a:r>
            <a:r>
              <a:rPr lang="en-US" dirty="0"/>
              <a:t> </a:t>
            </a:r>
          </a:p>
          <a:p>
            <a:pPr marL="0" indent="0">
              <a:buNone/>
            </a:pPr>
            <a:endParaRPr lang="en-US" dirty="0"/>
          </a:p>
          <a:p>
            <a:pPr marL="0" indent="0" algn="just">
              <a:buNone/>
            </a:pPr>
            <a:r>
              <a:rPr lang="en-US" sz="2900" dirty="0"/>
              <a:t>     </a:t>
            </a:r>
            <a:r>
              <a:rPr lang="en-US" sz="2500" b="1" dirty="0">
                <a:latin typeface="Aptos" panose="020B0004020202020204" pitchFamily="34" charset="0"/>
              </a:rPr>
              <a:t>1.Increase Conversion Rates: </a:t>
            </a:r>
          </a:p>
          <a:p>
            <a:pPr marL="0" indent="0" algn="just">
              <a:buNone/>
            </a:pPr>
            <a:r>
              <a:rPr lang="en-US" sz="2500" b="1" dirty="0">
                <a:latin typeface="Aptos" panose="020B0004020202020204" pitchFamily="34" charset="0"/>
              </a:rPr>
              <a:t>Goal:</a:t>
            </a:r>
            <a:r>
              <a:rPr lang="en-US" sz="2500" dirty="0">
                <a:latin typeface="Aptos" panose="020B0004020202020204" pitchFamily="34" charset="0"/>
              </a:rPr>
              <a:t> Identify factors affecting product conversion rates and improve performance during low-converting months. </a:t>
            </a:r>
          </a:p>
          <a:p>
            <a:pPr marL="0" indent="0" algn="just">
              <a:buNone/>
            </a:pPr>
            <a:r>
              <a:rPr lang="en-US" sz="2500" b="1" dirty="0">
                <a:latin typeface="Aptos" panose="020B0004020202020204" pitchFamily="34" charset="0"/>
              </a:rPr>
              <a:t>Insight:</a:t>
            </a:r>
            <a:r>
              <a:rPr lang="en-US" sz="2500" dirty="0">
                <a:latin typeface="Aptos" panose="020B0004020202020204" pitchFamily="34" charset="0"/>
              </a:rPr>
              <a:t> Conversion rates were highest in January (17.3%) and improved again in December (11.4%), while October recorded the lowest conversion rate (6.1%). Products like Ski Boots, Soccer Ball, and Baseball Gloves showed strong conversion performance during specific months.</a:t>
            </a:r>
          </a:p>
          <a:p>
            <a:pPr marL="0" indent="0" algn="just">
              <a:buNone/>
            </a:pPr>
            <a:r>
              <a:rPr lang="en-US" sz="2500" dirty="0">
                <a:latin typeface="Aptos" panose="020B0004020202020204" pitchFamily="34" charset="0"/>
              </a:rPr>
              <a:t>     </a:t>
            </a:r>
            <a:r>
              <a:rPr lang="en-US" sz="2500" b="1" dirty="0">
                <a:latin typeface="Aptos" panose="020B0004020202020204" pitchFamily="34" charset="0"/>
              </a:rPr>
              <a:t>2. Enhance Customer Engagement: </a:t>
            </a:r>
          </a:p>
          <a:p>
            <a:pPr marL="0" indent="0" algn="just">
              <a:buNone/>
            </a:pPr>
            <a:r>
              <a:rPr lang="en-US" sz="2500" b="1" dirty="0">
                <a:latin typeface="Aptos" panose="020B0004020202020204" pitchFamily="34" charset="0"/>
              </a:rPr>
              <a:t>Goal:</a:t>
            </a:r>
            <a:r>
              <a:rPr lang="en-US" sz="2500" dirty="0">
                <a:latin typeface="Aptos" panose="020B0004020202020204" pitchFamily="34" charset="0"/>
              </a:rPr>
              <a:t> Identify content performance trends and improve audience engagement. </a:t>
            </a:r>
          </a:p>
          <a:p>
            <a:pPr marL="0" indent="0" algn="just">
              <a:buNone/>
            </a:pPr>
            <a:r>
              <a:rPr lang="en-US" sz="2500" b="1" dirty="0">
                <a:latin typeface="Aptos" panose="020B0004020202020204" pitchFamily="34" charset="0"/>
              </a:rPr>
              <a:t>Insight:</a:t>
            </a:r>
            <a:r>
              <a:rPr lang="en-US" sz="2500" dirty="0">
                <a:latin typeface="Aptos" panose="020B0004020202020204" pitchFamily="34" charset="0"/>
              </a:rPr>
              <a:t> Overall views declined throughout the year, dropping from nearly 1.3M views in early months to around 0.7M in later months. Clicks and likes remained significantly lower than views. Social media content performed better in early months, while engagement declined in the later months. </a:t>
            </a:r>
          </a:p>
          <a:p>
            <a:pPr marL="0" indent="0" algn="just">
              <a:buNone/>
            </a:pPr>
            <a:r>
              <a:rPr lang="en-US" sz="2500" dirty="0">
                <a:latin typeface="Aptos" panose="020B0004020202020204" pitchFamily="34" charset="0"/>
              </a:rPr>
              <a:t>      </a:t>
            </a:r>
            <a:r>
              <a:rPr lang="en-US" sz="2500" b="1" dirty="0">
                <a:latin typeface="Aptos" panose="020B0004020202020204" pitchFamily="34" charset="0"/>
              </a:rPr>
              <a:t>3.Improve Customer Feedback Scores:</a:t>
            </a:r>
          </a:p>
          <a:p>
            <a:pPr marL="0" indent="0" algn="just">
              <a:buNone/>
            </a:pPr>
            <a:r>
              <a:rPr lang="en-US" sz="2500" b="1" dirty="0">
                <a:latin typeface="Aptos" panose="020B0004020202020204" pitchFamily="34" charset="0"/>
              </a:rPr>
              <a:t> Goal: </a:t>
            </a:r>
            <a:r>
              <a:rPr lang="en-US" sz="2500" dirty="0">
                <a:latin typeface="Aptos" panose="020B0004020202020204" pitchFamily="34" charset="0"/>
              </a:rPr>
              <a:t>Understand customer sentiment patterns and improve customer satisfaction. </a:t>
            </a:r>
          </a:p>
          <a:p>
            <a:pPr marL="0" indent="0" algn="just">
              <a:buNone/>
            </a:pPr>
            <a:r>
              <a:rPr lang="en-US" sz="2500" b="1" dirty="0">
                <a:latin typeface="Aptos" panose="020B0004020202020204" pitchFamily="34" charset="0"/>
              </a:rPr>
              <a:t>Insight: </a:t>
            </a:r>
            <a:r>
              <a:rPr lang="en-US" sz="2500" dirty="0">
                <a:latin typeface="Aptos" panose="020B0004020202020204" pitchFamily="34" charset="0"/>
              </a:rPr>
              <a:t>Most customers gave 4-star and 5-star ratings, showing overall positive satisfaction. Positive sentiment dominated customer reviews, but negative and mixed feedback highlighted areas where product and service improvements are needed.</a:t>
            </a:r>
            <a:endParaRPr lang="en-IN" sz="2500" dirty="0">
              <a:latin typeface="Aptos" panose="020B0004020202020204" pitchFamily="34" charset="0"/>
            </a:endParaRPr>
          </a:p>
        </p:txBody>
      </p:sp>
      <p:sp>
        <p:nvSpPr>
          <p:cNvPr id="6" name="TextBox 5">
            <a:extLst>
              <a:ext uri="{FF2B5EF4-FFF2-40B4-BE49-F238E27FC236}">
                <a16:creationId xmlns:a16="http://schemas.microsoft.com/office/drawing/2014/main" id="{59C53E8F-279E-E86A-BE46-32A0789D2D30}"/>
              </a:ext>
            </a:extLst>
          </p:cNvPr>
          <p:cNvSpPr txBox="1"/>
          <p:nvPr/>
        </p:nvSpPr>
        <p:spPr>
          <a:xfrm>
            <a:off x="6754761" y="1278193"/>
            <a:ext cx="4876800" cy="4431983"/>
          </a:xfrm>
          <a:prstGeom prst="rect">
            <a:avLst/>
          </a:prstGeom>
          <a:noFill/>
        </p:spPr>
        <p:txBody>
          <a:bodyPr wrap="square" rtlCol="0">
            <a:spAutoFit/>
          </a:bodyPr>
          <a:lstStyle/>
          <a:p>
            <a:r>
              <a:rPr lang="en-US" sz="1500" b="1" dirty="0">
                <a:latin typeface="Aptos" panose="020B0004020202020204" pitchFamily="34" charset="0"/>
              </a:rPr>
              <a:t>Actions </a:t>
            </a:r>
          </a:p>
          <a:p>
            <a:endParaRPr lang="en-US" sz="1500" b="1" dirty="0">
              <a:latin typeface="Aptos" panose="020B0004020202020204" pitchFamily="34" charset="0"/>
            </a:endParaRPr>
          </a:p>
          <a:p>
            <a:pPr marL="342900" indent="-342900">
              <a:buAutoNum type="arabicPeriod"/>
            </a:pPr>
            <a:r>
              <a:rPr lang="en-US" sz="1400" b="1" dirty="0">
                <a:latin typeface="Aptos" panose="020B0004020202020204" pitchFamily="34" charset="0"/>
              </a:rPr>
              <a:t>Increase Conversion Rates: </a:t>
            </a:r>
          </a:p>
          <a:p>
            <a:r>
              <a:rPr lang="en-US" sz="1400" dirty="0">
                <a:latin typeface="Aptos" panose="020B0004020202020204" pitchFamily="34" charset="0"/>
              </a:rPr>
              <a:t>Focus marketing efforts on high-performing products such as Ski Boots, Soccer Ball, and Baseball Gloves. Run seasonal campaigns during high-performing months and improve promotional strategies during low-performing months like October. </a:t>
            </a:r>
          </a:p>
          <a:p>
            <a:endParaRPr lang="en-US" sz="1400" dirty="0">
              <a:latin typeface="Aptos" panose="020B0004020202020204" pitchFamily="34" charset="0"/>
            </a:endParaRPr>
          </a:p>
          <a:p>
            <a:r>
              <a:rPr lang="en-US" sz="1400" b="1" dirty="0">
                <a:latin typeface="Aptos" panose="020B0004020202020204" pitchFamily="34" charset="0"/>
              </a:rPr>
              <a:t>2. Enhance Customer Engagement:</a:t>
            </a:r>
          </a:p>
          <a:p>
            <a:r>
              <a:rPr lang="en-US" sz="1400" dirty="0">
                <a:latin typeface="Aptos" panose="020B0004020202020204" pitchFamily="34" charset="0"/>
              </a:rPr>
              <a:t>Improve content strategy by creating more engaging content formats such as videos, interactive posts, and personalized campaigns. Strengthen call-to-actions to improve clicks and likes, especially during low-engagement periods.</a:t>
            </a:r>
          </a:p>
          <a:p>
            <a:endParaRPr lang="en-US" sz="1400" dirty="0">
              <a:latin typeface="Aptos" panose="020B0004020202020204" pitchFamily="34" charset="0"/>
            </a:endParaRPr>
          </a:p>
          <a:p>
            <a:r>
              <a:rPr lang="en-US" sz="1400" dirty="0">
                <a:latin typeface="Aptos" panose="020B0004020202020204" pitchFamily="34" charset="0"/>
              </a:rPr>
              <a:t> </a:t>
            </a:r>
            <a:r>
              <a:rPr lang="en-US" sz="1400" b="1" dirty="0">
                <a:latin typeface="Aptos" panose="020B0004020202020204" pitchFamily="34" charset="0"/>
              </a:rPr>
              <a:t>3. Improve Customer Feedback Scores: </a:t>
            </a:r>
            <a:r>
              <a:rPr lang="en-US" sz="1400" dirty="0">
                <a:latin typeface="Aptos" panose="020B0004020202020204" pitchFamily="34" charset="0"/>
              </a:rPr>
              <a:t>Analyze negative and mixed reviews to identify recurring customer issues. Improve product quality and customer service experience to increase average ratings and convert neutral customers into satisfied customers.</a:t>
            </a:r>
            <a:endParaRPr lang="en-IN" sz="1400" dirty="0">
              <a:latin typeface="Aptos" panose="020B0004020202020204" pitchFamily="34" charset="0"/>
            </a:endParaRPr>
          </a:p>
        </p:txBody>
      </p:sp>
    </p:spTree>
    <p:extLst>
      <p:ext uri="{BB962C8B-B14F-4D97-AF65-F5344CB8AC3E}">
        <p14:creationId xmlns:p14="http://schemas.microsoft.com/office/powerpoint/2010/main" val="12788912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883</Words>
  <Application>Microsoft Office PowerPoint</Application>
  <PresentationFormat>Widescreen</PresentationFormat>
  <Paragraphs>55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Calibri Light</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Nainesh Shirsath</dc:creator>
  <cp:lastModifiedBy>Nainesh Shirsath</cp:lastModifiedBy>
  <cp:revision>7</cp:revision>
  <dcterms:created xsi:type="dcterms:W3CDTF">2026-05-04T19:35:42Z</dcterms:created>
  <dcterms:modified xsi:type="dcterms:W3CDTF">2026-05-05T12:47:38Z</dcterms:modified>
</cp:coreProperties>
</file>