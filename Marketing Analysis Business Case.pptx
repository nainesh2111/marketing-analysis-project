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374CC0-A2E2-49DC-964B-F63B2649980F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C5659E-9761-4ECB-98E4-429757AF0F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47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C5659E-9761-4ECB-98E4-429757AF0FC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5641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EF604-086F-8E51-1FF5-8548E767E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1F3506-F401-936F-6F64-A13D3C3180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5EF56-60F4-6382-35D2-801543459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52A8F-841B-4458-A3E4-04EBCFBF89E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9E12D-94EF-1E91-5DF2-AD6FA8B57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05DB57-3FBF-5C22-8988-C1A5E5CC3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52274-FE43-474B-BEA0-D21607E30B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801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79CE0-CA79-EA7B-4781-0E9001366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809E2-2304-5A1B-B7CE-3C3618C43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8A01E-A170-3AC9-8369-6D15CD78A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52A8F-841B-4458-A3E4-04EBCFBF89E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F3A09-7A4A-B409-F09C-E15A0C512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F8959-4D99-99AB-31D1-1DE02B26E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52274-FE43-474B-BEA0-D21607E30B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8609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5012C-68A3-1F50-C2BB-C8484BEB6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219288-975A-9136-58CD-CE9518AEB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F8BE1-B047-D4D8-136A-242856AB0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52A8F-841B-4458-A3E4-04EBCFBF89E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A0504-302C-D652-B74C-267EC959A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4ED38-D4FB-C2D9-01FC-1D0DEF993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52274-FE43-474B-BEA0-D21607E30B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2220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BD25F-30E6-4EDE-9FBC-3C6658E1D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F6A6D-92F6-A726-182D-947CB26F3E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571835-96F2-E0F5-BEB6-0AFC36B103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60004D-81FA-6FC5-C52D-7355D53D3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52A8F-841B-4458-A3E4-04EBCFBF89E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BDC90-3D74-AA0E-88A2-E5D9DCFBB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A93CB8-89CC-8567-D6AD-D5EB7F6CE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52274-FE43-474B-BEA0-D21607E30B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4022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6CCC2-7C5B-70BF-148A-30F43D68F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1B50B-DB6A-23AE-C4FF-44FE3540D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57FEA-7D8F-45D7-E893-C566B4D5A1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8F4FD8-5CB8-66A6-16FC-FD9037CF28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7AF1D7-D4E0-2A0C-2315-E2AD5610E5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17D17-F0E3-5896-B98E-BB3D1D286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52A8F-841B-4458-A3E4-04EBCFBF89E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AE57AA-170D-B8E5-F65A-660C98C7A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CF448C-A88D-D3F3-F39D-35D02EA08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52274-FE43-474B-BEA0-D21607E30B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180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96AF0-F5F6-257E-4199-3675A86E4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B7312F-729D-10D7-C1B8-B05EAA6F6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52A8F-841B-4458-A3E4-04EBCFBF89E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B5C64D-7926-23F0-DB5C-070ED560F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BD52D1-1443-F060-CC8A-20085CB72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52274-FE43-474B-BEA0-D21607E30B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5462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BA6766-539C-5812-558B-50642BD06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52A8F-841B-4458-A3E4-04EBCFBF89E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DDF5CE-64F2-E670-556C-0527B22E1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9A56A-84A7-A552-7C3C-79D449EEC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52274-FE43-474B-BEA0-D21607E30B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0313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D0FBA-3CF2-ABB8-B6C2-7E9A27D46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90706-E323-1A56-0CF7-DC5BC4B99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75489E-340A-50D6-D395-3F1EBF9073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4AD04A-5B44-B9FE-1C8F-585BB9676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52A8F-841B-4458-A3E4-04EBCFBF89E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B0C89-E795-EB78-99E8-53684BABA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31BA78-F2E3-08A3-28CB-DF919E314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52274-FE43-474B-BEA0-D21607E30B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771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B63FF-8D62-26AD-EDC4-3D9BEAAC7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717794-2DAC-F46A-1B6F-51830E41E6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9C3578-7A72-7B44-F81B-97052EA193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1985DD-966D-3F95-10B8-81984B393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52A8F-841B-4458-A3E4-04EBCFBF89E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31CD16-E4B0-D9BC-0E23-7BF7C8167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3E7168-EC93-1F36-3E9F-B352323C8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52274-FE43-474B-BEA0-D21607E30B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625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45192-6970-06AC-5A11-D41E13AAB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4C6945-A875-E3D2-8CA6-138A951B67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499C5-275F-1FF9-DE75-6D58DF6C5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52A8F-841B-4458-A3E4-04EBCFBF89E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09D7B-229D-87B4-094D-CF3521432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6214F-A1DC-8314-7DE8-AFE6C36DF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52274-FE43-474B-BEA0-D21607E30B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083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C001C6-F085-B44C-D490-F10D45D3F9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6A7BE2-AEC1-C165-1D42-D2265F7CA7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E0918-B4A8-2F7E-7BBD-A924CA3DB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52A8F-841B-4458-A3E4-04EBCFBF89E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00F83-FA7B-F98B-16E4-DFAFA5126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89F63-F93A-D87A-8B14-7E0F08747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52274-FE43-474B-BEA0-D21607E30B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06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26370-018E-9925-45DE-106E8F8D6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E34BFA-CFB8-437A-2B54-E5DFEAEF7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B3FB0-0ADC-1CE9-78BB-D21A98AA46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52A8F-841B-4458-A3E4-04EBCFBF89E5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F3AE7-88EC-C46E-DCA5-D6FB51E876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4AB38-D197-858F-B2CE-E0F8786AF6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D52274-FE43-474B-BEA0-D21607E30B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968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9DB6E-02AC-24D9-2C4D-4490ACB5C9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133599"/>
          </a:xfrm>
        </p:spPr>
        <p:txBody>
          <a:bodyPr>
            <a:normAutofit/>
          </a:bodyPr>
          <a:lstStyle/>
          <a:p>
            <a:r>
              <a:rPr lang="en-IN" sz="5400" b="1" dirty="0">
                <a:latin typeface="Aptos" panose="020B0004020202020204" pitchFamily="34" charset="0"/>
              </a:rPr>
              <a:t>Marketing Analysis Business Case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E5C68B-A836-C052-5A37-ADFF40C4BF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553065"/>
          </a:xfrm>
        </p:spPr>
        <p:txBody>
          <a:bodyPr/>
          <a:lstStyle/>
          <a:p>
            <a:r>
              <a:rPr lang="en-IN" dirty="0">
                <a:latin typeface="Aptos" panose="020B0004020202020204" pitchFamily="34" charset="0"/>
              </a:rPr>
              <a:t>Nainesh Shirsath</a:t>
            </a:r>
          </a:p>
        </p:txBody>
      </p:sp>
    </p:spTree>
    <p:extLst>
      <p:ext uri="{BB962C8B-B14F-4D97-AF65-F5344CB8AC3E}">
        <p14:creationId xmlns:p14="http://schemas.microsoft.com/office/powerpoint/2010/main" val="1213163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88AAE-CF04-6C50-7176-03E4A2009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593826" cy="952398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Aptos" panose="020B0004020202020204" pitchFamily="34" charset="0"/>
              </a:rPr>
              <a:t>Introduction to 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84515-38F3-FA16-F3A6-D1006067B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87561"/>
            <a:ext cx="10515600" cy="3689401"/>
          </a:xfrm>
        </p:spPr>
        <p:txBody>
          <a:bodyPr>
            <a:normAutofit fontScale="70000" lnSpcReduction="20000"/>
          </a:bodyPr>
          <a:lstStyle/>
          <a:p>
            <a:endParaRPr lang="en-IN" dirty="0">
              <a:latin typeface="Aptos" panose="020B0004020202020204" pitchFamily="34" charset="0"/>
            </a:endParaRPr>
          </a:p>
          <a:p>
            <a:pPr>
              <a:lnSpc>
                <a:spcPct val="170000"/>
              </a:lnSpc>
            </a:pPr>
            <a:r>
              <a:rPr lang="en-US" sz="3200" b="1" dirty="0">
                <a:latin typeface="Aptos" panose="020B0004020202020204" pitchFamily="34" charset="0"/>
              </a:rPr>
              <a:t>Key Points:</a:t>
            </a:r>
            <a:endParaRPr lang="en-US" sz="3200" dirty="0">
              <a:latin typeface="Aptos" panose="020B0004020202020204" pitchFamily="34" charset="0"/>
            </a:endParaRPr>
          </a:p>
          <a:p>
            <a:pPr lvl="1" algn="just">
              <a:lnSpc>
                <a:spcPct val="170000"/>
              </a:lnSpc>
            </a:pPr>
            <a:r>
              <a:rPr lang="en-US" sz="2300" b="1" dirty="0">
                <a:latin typeface="Aptos" panose="020B0004020202020204" pitchFamily="34" charset="0"/>
              </a:rPr>
              <a:t>Reduced Customer Engagement:</a:t>
            </a:r>
            <a:r>
              <a:rPr lang="en-US" sz="2300" dirty="0">
                <a:latin typeface="Aptos" panose="020B0004020202020204" pitchFamily="34" charset="0"/>
              </a:rPr>
              <a:t> The number of customer interactions and engagement with the site and marketing content has declined.</a:t>
            </a:r>
          </a:p>
          <a:p>
            <a:pPr lvl="1" algn="just">
              <a:lnSpc>
                <a:spcPct val="170000"/>
              </a:lnSpc>
            </a:pPr>
            <a:r>
              <a:rPr lang="en-US" sz="2300" b="1" dirty="0">
                <a:latin typeface="Aptos" panose="020B0004020202020204" pitchFamily="34" charset="0"/>
              </a:rPr>
              <a:t>Decreased Conversion Rates:</a:t>
            </a:r>
            <a:r>
              <a:rPr lang="en-US" sz="2300" dirty="0">
                <a:latin typeface="Aptos" panose="020B0004020202020204" pitchFamily="34" charset="0"/>
              </a:rPr>
              <a:t> Fewer site visitors are converting into paying customers.</a:t>
            </a:r>
          </a:p>
          <a:p>
            <a:pPr lvl="1" algn="just">
              <a:lnSpc>
                <a:spcPct val="170000"/>
              </a:lnSpc>
            </a:pPr>
            <a:r>
              <a:rPr lang="en-US" sz="2300" b="1" dirty="0">
                <a:latin typeface="Aptos" panose="020B0004020202020204" pitchFamily="34" charset="0"/>
              </a:rPr>
              <a:t>High Marketing Expenses:</a:t>
            </a:r>
            <a:r>
              <a:rPr lang="en-US" sz="2300" dirty="0">
                <a:latin typeface="Aptos" panose="020B0004020202020204" pitchFamily="34" charset="0"/>
              </a:rPr>
              <a:t> Significant investments in marketing campaigns are not yielding expected returns.</a:t>
            </a:r>
          </a:p>
          <a:p>
            <a:pPr lvl="1" algn="just">
              <a:lnSpc>
                <a:spcPct val="170000"/>
              </a:lnSpc>
            </a:pPr>
            <a:r>
              <a:rPr lang="en-US" sz="2300" b="1" dirty="0">
                <a:latin typeface="Aptos" panose="020B0004020202020204" pitchFamily="34" charset="0"/>
              </a:rPr>
              <a:t>Need for Customer Feedback Analysis:</a:t>
            </a:r>
            <a:r>
              <a:rPr lang="en-US" sz="2300" dirty="0">
                <a:latin typeface="Aptos" panose="020B0004020202020204" pitchFamily="34" charset="0"/>
              </a:rPr>
              <a:t> Understanding customer opinions about products and services is crucial for improving engagement and conversions</a:t>
            </a:r>
            <a:r>
              <a:rPr lang="en-US" sz="2600" dirty="0">
                <a:latin typeface="Aptos" panose="020B0004020202020204" pitchFamily="34" charset="0"/>
              </a:rPr>
              <a:t>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57C126-66B9-0923-2B87-EC49B8A5E163}"/>
              </a:ext>
            </a:extLst>
          </p:cNvPr>
          <p:cNvSpPr txBox="1"/>
          <p:nvPr/>
        </p:nvSpPr>
        <p:spPr>
          <a:xfrm>
            <a:off x="838200" y="1317523"/>
            <a:ext cx="105156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err="1">
                <a:latin typeface="Aptos" panose="020B0004020202020204" pitchFamily="34" charset="0"/>
              </a:rPr>
              <a:t>ShopEasy</a:t>
            </a:r>
            <a:r>
              <a:rPr lang="en-US" sz="2000" dirty="0">
                <a:latin typeface="Aptos" panose="020B0004020202020204" pitchFamily="34" charset="0"/>
              </a:rPr>
              <a:t>, an online retail company, was experiencing declining customer engagement and conversion rates despite increasing investment in marketing campaigns. The company needed data analysis to identify performance gaps and improve marketing effectiveness.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6530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BC7F7-3DA3-F143-471B-AB9BDCB7C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Aptos" panose="020B0004020202020204" pitchFamily="34" charset="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3817E-4794-7785-E126-B9D7B3D88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8968"/>
            <a:ext cx="10515600" cy="4357995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Aptos" panose="020B0004020202020204" pitchFamily="34" charset="0"/>
              </a:rPr>
              <a:t>The objective of this project was to identify reasons behind declining engagement and conversions, analyze customer feedback, evaluate campaign performance, and optimize marketing strategies to improve ROI.</a:t>
            </a:r>
            <a:endParaRPr lang="en-IN" sz="2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888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572B8-7DED-70BE-551D-6C9BEE375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2787"/>
            <a:ext cx="10515600" cy="1838631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Aptos" panose="020B0004020202020204" pitchFamily="34" charset="0"/>
              </a:rPr>
              <a:t>Key Performance Indicators (KPIs)</a:t>
            </a:r>
            <a:endParaRPr lang="en-IN" sz="3600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39A72-80C0-ACA3-6110-ECFC9EDAF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1419"/>
            <a:ext cx="10515600" cy="391554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Aptos" panose="020B0004020202020204" pitchFamily="34" charset="0"/>
              </a:rPr>
              <a:t>Conversion Rate: </a:t>
            </a:r>
            <a:r>
              <a:rPr lang="en-US" sz="2000" dirty="0">
                <a:latin typeface="Aptos" panose="020B0004020202020204" pitchFamily="34" charset="0"/>
              </a:rPr>
              <a:t>Percentage of website visitors who make a purchase.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Aptos" panose="020B0004020202020204" pitchFamily="34" charset="0"/>
              </a:rPr>
              <a:t>Customer Engagement Rate: </a:t>
            </a:r>
            <a:r>
              <a:rPr lang="en-US" sz="2000" dirty="0">
                <a:latin typeface="Aptos" panose="020B0004020202020204" pitchFamily="34" charset="0"/>
              </a:rPr>
              <a:t>Level of interaction with marketing content (clicks, likes, comments).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Aptos" panose="020B0004020202020204" pitchFamily="34" charset="0"/>
              </a:rPr>
              <a:t>Average Order Value (AOV): </a:t>
            </a:r>
            <a:r>
              <a:rPr lang="en-US" sz="2000" dirty="0">
                <a:latin typeface="Aptos" panose="020B0004020202020204" pitchFamily="34" charset="0"/>
              </a:rPr>
              <a:t>Average amount spent by a customer per transaction.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Aptos" panose="020B0004020202020204" pitchFamily="34" charset="0"/>
              </a:rPr>
              <a:t>Customer Feedback Score: </a:t>
            </a:r>
            <a:r>
              <a:rPr lang="en-US" sz="2000" dirty="0">
                <a:latin typeface="Aptos" panose="020B0004020202020204" pitchFamily="34" charset="0"/>
              </a:rPr>
              <a:t>Average rating from customer reviews.</a:t>
            </a:r>
            <a:endParaRPr lang="nb-NO" sz="2000" dirty="0">
              <a:latin typeface="Aptos" panose="020B00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9129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8BE3A-0026-F96C-D9BF-BA3F8D0B1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ptos" panose="020B0004020202020204" pitchFamily="34" charset="0"/>
              </a:rPr>
              <a:t>Goals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F08E6-DDB6-EAAE-5DDE-F2FBBE8CA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490"/>
            <a:ext cx="10515600" cy="4880385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US" sz="2900" b="1" dirty="0">
                <a:latin typeface="Aptos" panose="020B0004020202020204" pitchFamily="34" charset="0"/>
              </a:rPr>
              <a:t>Increase Conversion Rates:</a:t>
            </a:r>
          </a:p>
          <a:p>
            <a:pPr lvl="1" algn="just">
              <a:lnSpc>
                <a:spcPct val="170000"/>
              </a:lnSpc>
            </a:pPr>
            <a:r>
              <a:rPr lang="en-US" sz="2300" b="1" dirty="0">
                <a:latin typeface="Aptos" panose="020B0004020202020204" pitchFamily="34" charset="0"/>
              </a:rPr>
              <a:t>Goal: </a:t>
            </a:r>
            <a:r>
              <a:rPr lang="en-US" sz="2300" dirty="0">
                <a:latin typeface="Aptos" panose="020B0004020202020204" pitchFamily="34" charset="0"/>
              </a:rPr>
              <a:t>Identify factors impacting the conversion rate and provide recommendations to improve it.</a:t>
            </a:r>
          </a:p>
          <a:p>
            <a:pPr lvl="1" algn="just">
              <a:lnSpc>
                <a:spcPct val="170000"/>
              </a:lnSpc>
            </a:pPr>
            <a:r>
              <a:rPr lang="en-US" sz="2300" b="1" dirty="0">
                <a:latin typeface="Aptos" panose="020B0004020202020204" pitchFamily="34" charset="0"/>
              </a:rPr>
              <a:t>Insight: </a:t>
            </a:r>
            <a:r>
              <a:rPr lang="en-US" sz="2300" dirty="0">
                <a:latin typeface="Aptos" panose="020B0004020202020204" pitchFamily="34" charset="0"/>
              </a:rPr>
              <a:t>Highlight key stages where visitors drop off and suggest improvements to optimize the conversion funnel.</a:t>
            </a:r>
          </a:p>
          <a:p>
            <a:pPr algn="just">
              <a:lnSpc>
                <a:spcPct val="170000"/>
              </a:lnSpc>
            </a:pPr>
            <a:r>
              <a:rPr lang="en-US" sz="2900" b="1" dirty="0">
                <a:latin typeface="Aptos" panose="020B0004020202020204" pitchFamily="34" charset="0"/>
              </a:rPr>
              <a:t>Enhance Customer Engagement:</a:t>
            </a:r>
            <a:endParaRPr lang="en-US" sz="2900" dirty="0">
              <a:latin typeface="Aptos" panose="020B0004020202020204" pitchFamily="34" charset="0"/>
            </a:endParaRPr>
          </a:p>
          <a:p>
            <a:pPr lvl="1" algn="just">
              <a:lnSpc>
                <a:spcPct val="170000"/>
              </a:lnSpc>
            </a:pPr>
            <a:r>
              <a:rPr lang="en-US" sz="2300" b="1" dirty="0">
                <a:latin typeface="Aptos" panose="020B0004020202020204" pitchFamily="34" charset="0"/>
              </a:rPr>
              <a:t>Goal:</a:t>
            </a:r>
            <a:r>
              <a:rPr lang="en-US" sz="2300" dirty="0">
                <a:latin typeface="Aptos" panose="020B0004020202020204" pitchFamily="34" charset="0"/>
              </a:rPr>
              <a:t> Determine which types of content drive the highest engagement. </a:t>
            </a:r>
          </a:p>
          <a:p>
            <a:pPr lvl="1" algn="just">
              <a:lnSpc>
                <a:spcPct val="170000"/>
              </a:lnSpc>
            </a:pPr>
            <a:r>
              <a:rPr lang="en-US" sz="2300" b="1" dirty="0">
                <a:latin typeface="Aptos" panose="020B0004020202020204" pitchFamily="34" charset="0"/>
              </a:rPr>
              <a:t>Insight:</a:t>
            </a:r>
            <a:r>
              <a:rPr lang="en-US" sz="2300" dirty="0">
                <a:latin typeface="Aptos" panose="020B0004020202020204" pitchFamily="34" charset="0"/>
              </a:rPr>
              <a:t> Analyze interaction levels with different types of marketing content to inform better content strategies.</a:t>
            </a:r>
          </a:p>
          <a:p>
            <a:pPr algn="just">
              <a:lnSpc>
                <a:spcPct val="170000"/>
              </a:lnSpc>
            </a:pPr>
            <a:r>
              <a:rPr lang="en-US" sz="2900" b="1" dirty="0">
                <a:latin typeface="Aptos" panose="020B0004020202020204" pitchFamily="34" charset="0"/>
              </a:rPr>
              <a:t>Improve Customer Feedback Scores:</a:t>
            </a:r>
            <a:endParaRPr lang="en-US" sz="2900" dirty="0">
              <a:latin typeface="Aptos" panose="020B0004020202020204" pitchFamily="34" charset="0"/>
            </a:endParaRPr>
          </a:p>
          <a:p>
            <a:pPr lvl="1" algn="just">
              <a:lnSpc>
                <a:spcPct val="170000"/>
              </a:lnSpc>
            </a:pPr>
            <a:r>
              <a:rPr lang="en-US" sz="2300" b="1" dirty="0">
                <a:latin typeface="Aptos" panose="020B0004020202020204" pitchFamily="34" charset="0"/>
              </a:rPr>
              <a:t>Goal:</a:t>
            </a:r>
            <a:r>
              <a:rPr lang="en-US" sz="2300" dirty="0">
                <a:latin typeface="Aptos" panose="020B0004020202020204" pitchFamily="34" charset="0"/>
              </a:rPr>
              <a:t> Understand common themes in customer reviews and provide actionable insights.</a:t>
            </a:r>
          </a:p>
          <a:p>
            <a:pPr lvl="1" algn="just">
              <a:lnSpc>
                <a:spcPct val="170000"/>
              </a:lnSpc>
            </a:pPr>
            <a:r>
              <a:rPr lang="en-US" sz="2300" b="1" dirty="0">
                <a:latin typeface="Aptos" panose="020B0004020202020204" pitchFamily="34" charset="0"/>
              </a:rPr>
              <a:t>Insight:</a:t>
            </a:r>
            <a:r>
              <a:rPr lang="en-US" sz="2300" dirty="0">
                <a:latin typeface="Aptos" panose="020B0004020202020204" pitchFamily="34" charset="0"/>
              </a:rPr>
              <a:t> Identify recurring positive and negative feedback to guide product and service improvements.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3654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315</Words>
  <Application>Microsoft Office PowerPoint</Application>
  <PresentationFormat>Widescreen</PresentationFormat>
  <Paragraphs>28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Calibri</vt:lpstr>
      <vt:lpstr>Calibri Light</vt:lpstr>
      <vt:lpstr>Office Theme</vt:lpstr>
      <vt:lpstr>Marketing Analysis Business Case</vt:lpstr>
      <vt:lpstr>Introduction to Business Problem</vt:lpstr>
      <vt:lpstr>Objective</vt:lpstr>
      <vt:lpstr>Key Performance Indicators (KPIs)</vt:lpstr>
      <vt:lpstr>Goals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Nainesh Shirsath</dc:creator>
  <cp:lastModifiedBy>Nainesh Shirsath</cp:lastModifiedBy>
  <cp:revision>2</cp:revision>
  <dcterms:created xsi:type="dcterms:W3CDTF">2026-05-04T16:35:04Z</dcterms:created>
  <dcterms:modified xsi:type="dcterms:W3CDTF">2026-05-04T16:43:26Z</dcterms:modified>
</cp:coreProperties>
</file>